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8B7F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B2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7F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CF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89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B8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A6E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A85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7FD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FCFB3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Twisties</c:v>
                  </c:pt>
                  <c:pt idx="1">
                    <c:v>Red Rock Deli</c:v>
                  </c:pt>
                  <c:pt idx="2">
                    <c:v>Thins</c:v>
                  </c:pt>
                  <c:pt idx="3">
                    <c:v>Infuzions</c:v>
                  </c:pt>
                  <c:pt idx="4">
                    <c:v>Pringles</c:v>
                  </c:pt>
                  <c:pt idx="5">
                    <c:v>Smiths</c:v>
                  </c:pt>
                  <c:pt idx="6">
                    <c:v>Doritos</c:v>
                  </c:pt>
                  <c:pt idx="7">
                    <c:v>Kettle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81522</c:v>
                </c:pt>
                <c:pt idx="1">
                  <c:v>87608</c:v>
                </c:pt>
                <c:pt idx="2">
                  <c:v>88853</c:v>
                </c:pt>
                <c:pt idx="3">
                  <c:v>99048</c:v>
                </c:pt>
                <c:pt idx="4">
                  <c:v>177656</c:v>
                </c:pt>
                <c:pt idx="5">
                  <c:v>217492</c:v>
                </c:pt>
                <c:pt idx="6">
                  <c:v>226330</c:v>
                </c:pt>
                <c:pt idx="7">
                  <c:v>390240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2B2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7E1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7E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7E1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8B7F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7F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CF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89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B8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A6E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A85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7FD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Thins</c:v>
                  </c:pt>
                  <c:pt idx="1">
                    <c:v>Infuzions</c:v>
                  </c:pt>
                  <c:pt idx="2">
                    <c:v>Red Rock Deli</c:v>
                  </c:pt>
                  <c:pt idx="3">
                    <c:v>Pringles</c:v>
                  </c:pt>
                  <c:pt idx="4">
                    <c:v>Doritos</c:v>
                  </c:pt>
                  <c:pt idx="5">
                    <c:v>Smiths</c:v>
                  </c:pt>
                  <c:pt idx="6">
                    <c:v>Kettle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26929</c:v>
                </c:pt>
                <c:pt idx="1">
                  <c:v>27119</c:v>
                </c:pt>
                <c:pt idx="2">
                  <c:v>30891</c:v>
                </c:pt>
                <c:pt idx="3">
                  <c:v>48019</c:v>
                </c:pt>
                <c:pt idx="4">
                  <c:v>48331</c:v>
                </c:pt>
                <c:pt idx="5">
                  <c:v>57582</c:v>
                </c:pt>
                <c:pt idx="6">
                  <c:v>79051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7E1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7E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7E1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8B7F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B2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7F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CF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89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B8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A6E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A85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7FD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New
Families</c:v>
                  </c:pt>
                  <c:pt idx="1">
                    <c:v>Midage S/C</c:v>
                  </c:pt>
                  <c:pt idx="2">
                    <c:v>Young S/C</c:v>
                  </c:pt>
                  <c:pt idx="3">
                    <c:v>Young
Families</c:v>
                  </c:pt>
                  <c:pt idx="4">
                    <c:v>Older
Families</c:v>
                  </c:pt>
                  <c:pt idx="5">
                    <c:v>Retirees</c:v>
                  </c:pt>
                  <c:pt idx="6">
                    <c:v>Older S/C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47348</c:v>
                </c:pt>
                <c:pt idx="1">
                  <c:v>172524</c:v>
                </c:pt>
                <c:pt idx="2">
                  <c:v>243757</c:v>
                </c:pt>
                <c:pt idx="3">
                  <c:v>294628</c:v>
                </c:pt>
                <c:pt idx="4">
                  <c:v>328520</c:v>
                </c:pt>
                <c:pt idx="5">
                  <c:v>342382</c:v>
                </c:pt>
                <c:pt idx="6">
                  <c:v>376020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2B2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7E1F5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7E1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7FD1"/>
              </a:solidFill>
              <a:effectLst/>
            </c:spPr>
          </c:dPt>
          <c:dPt>
            <c:idx val="1"/>
            <c:bubble3D val="0"/>
            <c:spPr>
              <a:solidFill>
                <a:srgbClr val="6FCFB3"/>
              </a:solidFill>
              <a:effectLst/>
            </c:spPr>
          </c:dPt>
          <c:dPt>
            <c:idx val="2"/>
            <c:bubble3D val="0"/>
            <c:spPr>
              <a:solidFill>
                <a:srgbClr val="F0899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Mainstream</c:v>
                </c:pt>
                <c:pt idx="1">
                  <c:v>Budget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700865</c:v>
                </c:pt>
                <c:pt idx="1">
                  <c:v>631407</c:v>
                </c:pt>
                <c:pt idx="2">
                  <c:v>472905</c:v>
                </c:pt>
              </c:numCache>
            </c:numRef>
          </c:val>
        </c:ser>
        <c:firstSliceAng val="0"/>
        <c:holeSize val="50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E67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8B7F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B2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7F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CF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89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B8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A6E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A85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7FD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FCFB3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380g</c:v>
                  </c:pt>
                  <c:pt idx="1">
                    <c:v>330g</c:v>
                  </c:pt>
                  <c:pt idx="2">
                    <c:v>165g</c:v>
                  </c:pt>
                  <c:pt idx="3">
                    <c:v>170g</c:v>
                  </c:pt>
                  <c:pt idx="4">
                    <c:v>110g</c:v>
                  </c:pt>
                  <c:pt idx="5">
                    <c:v>134g</c:v>
                  </c:pt>
                  <c:pt idx="6">
                    <c:v>150g</c:v>
                  </c:pt>
                  <c:pt idx="7">
                    <c:v>175g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6416</c:v>
                </c:pt>
                <c:pt idx="1">
                  <c:v>12540</c:v>
                </c:pt>
                <c:pt idx="2">
                  <c:v>15297</c:v>
                </c:pt>
                <c:pt idx="3">
                  <c:v>19983</c:v>
                </c:pt>
                <c:pt idx="4">
                  <c:v>22387</c:v>
                </c:pt>
                <c:pt idx="5">
                  <c:v>25102</c:v>
                </c:pt>
                <c:pt idx="6">
                  <c:v>40203</c:v>
                </c:pt>
                <c:pt idx="7">
                  <c:v>66390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2B2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7E1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7E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7E1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Packs</c:v>
                </c:pt>
              </c:strCache>
            </c:strRef>
          </c:tx>
          <c:spPr>
            <a:solidFill>
              <a:srgbClr val="8B7FD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7F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CFB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899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B8E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A6E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A85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7FD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Young S/C</c:v>
                  </c:pt>
                  <c:pt idx="1">
                    <c:v>New Families</c:v>
                  </c:pt>
                  <c:pt idx="2">
                    <c:v>Retirees</c:v>
                  </c:pt>
                  <c:pt idx="3">
                    <c:v>Midage S/C</c:v>
                  </c:pt>
                  <c:pt idx="4">
                    <c:v>Older S/C</c:v>
                  </c:pt>
                  <c:pt idx="5">
                    <c:v>Young Families</c:v>
                  </c:pt>
                  <c:pt idx="6">
                    <c:v>Older Families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1.83</c:v>
                </c:pt>
                <c:pt idx="1">
                  <c:v>1.86</c:v>
                </c:pt>
                <c:pt idx="2">
                  <c:v>1.89</c:v>
                </c:pt>
                <c:pt idx="3">
                  <c:v>1.9</c:v>
                </c:pt>
                <c:pt idx="4">
                  <c:v>1.91</c:v>
                </c:pt>
                <c:pt idx="5">
                  <c:v>1.94</c:v>
                </c:pt>
                <c:pt idx="6">
                  <c:v>1.95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B2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7E1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7E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7E1F5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03120"/>
            <a:ext cx="5943600" cy="5943600"/>
          </a:xfrm>
          <a:prstGeom prst="ellipse">
            <a:avLst/>
          </a:prstGeom>
          <a:solidFill>
            <a:srgbClr val="8B7FD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114800"/>
            <a:ext cx="5943600" cy="5943600"/>
          </a:xfrm>
          <a:prstGeom prst="ellipse">
            <a:avLst/>
          </a:prstGeom>
          <a:solidFill>
            <a:srgbClr val="6FCFB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7276" y="1051560"/>
            <a:ext cx="914400" cy="914400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5" name="Text 3"/>
          <p:cNvSpPr/>
          <p:nvPr/>
        </p:nvSpPr>
        <p:spPr>
          <a:xfrm>
            <a:off x="5637276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0" y="22402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 VIRTUAL INTERNSHIP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2651760"/>
            <a:ext cx="1218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0" y="3429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Chip Purchase Behaviour 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53996" y="4114800"/>
            <a:ext cx="2377440" cy="868680"/>
          </a:xfrm>
          <a:prstGeom prst="roundRect">
            <a:avLst>
              <a:gd name="adj" fmla="val 15789"/>
            </a:avLst>
          </a:prstGeom>
          <a:solidFill>
            <a:srgbClr val="F6F3FC"/>
          </a:solidFill>
          <a:ln w="12700">
            <a:solidFill>
              <a:srgbClr val="8B7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53996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246,740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253996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05756" y="4114800"/>
            <a:ext cx="2377440" cy="868680"/>
          </a:xfrm>
          <a:prstGeom prst="roundRect">
            <a:avLst>
              <a:gd name="adj" fmla="val 15789"/>
            </a:avLst>
          </a:prstGeom>
          <a:solidFill>
            <a:srgbClr val="F6F3FC"/>
          </a:solidFill>
          <a:ln w="12700">
            <a:solidFill>
              <a:srgbClr val="6FCF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5756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FC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72,637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05756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57516" y="4114800"/>
            <a:ext cx="2377440" cy="868680"/>
          </a:xfrm>
          <a:prstGeom prst="roundRect">
            <a:avLst>
              <a:gd name="adj" fmla="val 15789"/>
            </a:avLst>
          </a:prstGeom>
          <a:solidFill>
            <a:srgbClr val="F6F3FC"/>
          </a:solidFill>
          <a:ln w="12700">
            <a:solidFill>
              <a:srgbClr val="F089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7516" y="4160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08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557516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Ishika Verma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32918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AT A GLANCE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50292"/>
          </a:xfrm>
          <a:prstGeom prst="rect">
            <a:avLst/>
          </a:prstGeom>
          <a:solidFill>
            <a:srgbClr val="8B7FD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Analyze supermarket transaction and customer purchase behaviour data to identify valuable customer segments, high-performing brands, preferred pack sizes, and actionable business insights.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709928" cy="45720"/>
          </a:xfrm>
          <a:prstGeom prst="rect">
            <a:avLst/>
          </a:prstGeom>
          <a:solidFill>
            <a:srgbClr val="8B7FD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246,740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04872" y="4434840"/>
            <a:ext cx="1709928" cy="45720"/>
          </a:xfrm>
          <a:prstGeom prst="rect">
            <a:avLst/>
          </a:prstGeom>
          <a:solidFill>
            <a:srgbClr val="6FCFB3"/>
          </a:solidFill>
          <a:ln/>
        </p:spPr>
      </p:sp>
      <p:sp>
        <p:nvSpPr>
          <p:cNvPr id="13" name="Text 11"/>
          <p:cNvSpPr/>
          <p:nvPr/>
        </p:nvSpPr>
        <p:spPr>
          <a:xfrm>
            <a:off x="2404872" y="301752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FC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72,637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04872" y="38862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61104" y="4434840"/>
            <a:ext cx="1709928" cy="45720"/>
          </a:xfrm>
          <a:prstGeom prst="rect">
            <a:avLst/>
          </a:prstGeom>
          <a:solidFill>
            <a:srgbClr val="F0899F"/>
          </a:solidFill>
          <a:ln/>
        </p:spPr>
      </p:sp>
      <p:sp>
        <p:nvSpPr>
          <p:cNvPr id="16" name="Text 14"/>
          <p:cNvSpPr/>
          <p:nvPr/>
        </p:nvSpPr>
        <p:spPr>
          <a:xfrm>
            <a:off x="4261104" y="301752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61104" y="38862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17336" y="4434840"/>
            <a:ext cx="1709928" cy="45720"/>
          </a:xfrm>
          <a:prstGeom prst="rect">
            <a:avLst/>
          </a:prstGeom>
          <a:solidFill>
            <a:srgbClr val="7FB8E0"/>
          </a:solidFill>
          <a:ln/>
        </p:spPr>
      </p:sp>
      <p:sp>
        <p:nvSpPr>
          <p:cNvPr id="19" name="Text 17"/>
          <p:cNvSpPr/>
          <p:nvPr/>
        </p:nvSpPr>
        <p:spPr>
          <a:xfrm>
            <a:off x="6117336" y="301752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17336" y="38862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73568" y="4434840"/>
            <a:ext cx="1709928" cy="45720"/>
          </a:xfrm>
          <a:prstGeom prst="rect">
            <a:avLst/>
          </a:prstGeom>
          <a:solidFill>
            <a:srgbClr val="B9A6E8"/>
          </a:solidFill>
          <a:ln/>
        </p:spPr>
      </p:sp>
      <p:sp>
        <p:nvSpPr>
          <p:cNvPr id="22" name="Text 20"/>
          <p:cNvSpPr/>
          <p:nvPr/>
        </p:nvSpPr>
        <p:spPr>
          <a:xfrm>
            <a:off x="7973568" y="301752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973568" y="38862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29800" y="4434840"/>
            <a:ext cx="1709928" cy="45720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25" name="Text 23"/>
          <p:cNvSpPr/>
          <p:nvPr/>
        </p:nvSpPr>
        <p:spPr>
          <a:xfrm>
            <a:off x="9829800" y="3017520"/>
            <a:ext cx="1709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829800" y="3886200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9377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6F3FC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1206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simulates a real Quantium retail analytics engagement — cleaning raw transaction data, engineering features, and translating patterns into commercial recommendations for a supermarket chain's chip category.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32918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C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ANALYSIS-READY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50292"/>
          </a:xfrm>
          <a:prstGeom prst="rect">
            <a:avLst/>
          </a:prstGeom>
          <a:solidFill>
            <a:srgbClr val="6FCFB3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703320"/>
            <a:ext cx="10332720" cy="36576"/>
          </a:xfrm>
          <a:prstGeom prst="rect">
            <a:avLst/>
          </a:prstGeom>
          <a:solidFill>
            <a:srgbClr val="E7E1F5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3621024"/>
            <a:ext cx="201168" cy="201168"/>
          </a:xfrm>
          <a:prstGeom prst="ellipse">
            <a:avLst/>
          </a:prstGeom>
          <a:solidFill>
            <a:srgbClr val="8B7FD1"/>
          </a:solidFill>
          <a:ln/>
        </p:spPr>
      </p:sp>
      <p:sp>
        <p:nvSpPr>
          <p:cNvPr id="10" name="Shape 8"/>
          <p:cNvSpPr/>
          <p:nvPr/>
        </p:nvSpPr>
        <p:spPr>
          <a:xfrm>
            <a:off x="740664" y="3547872"/>
            <a:ext cx="347472" cy="347472"/>
          </a:xfrm>
          <a:prstGeom prst="ellipse">
            <a:avLst/>
          </a:prstGeom>
          <a:solidFill>
            <a:srgbClr val="8B7FD1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07085" y="3383280"/>
            <a:ext cx="14630" cy="219456"/>
          </a:xfrm>
          <a:prstGeom prst="rect">
            <a:avLst/>
          </a:prstGeom>
          <a:solidFill>
            <a:srgbClr val="8B7FD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" y="23317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6F3FC"/>
          </a:solidFill>
          <a:ln w="12700">
            <a:solidFill>
              <a:srgbClr val="8B7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" y="26426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Conversion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" y="2990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serial → datetime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80360" y="3621024"/>
            <a:ext cx="201168" cy="201168"/>
          </a:xfrm>
          <a:prstGeom prst="ellipse">
            <a:avLst/>
          </a:prstGeom>
          <a:solidFill>
            <a:srgbClr val="6FCFB3"/>
          </a:solidFill>
          <a:ln/>
        </p:spPr>
      </p:sp>
      <p:sp>
        <p:nvSpPr>
          <p:cNvPr id="17" name="Shape 15"/>
          <p:cNvSpPr/>
          <p:nvPr/>
        </p:nvSpPr>
        <p:spPr>
          <a:xfrm>
            <a:off x="2807208" y="3547872"/>
            <a:ext cx="347472" cy="347472"/>
          </a:xfrm>
          <a:prstGeom prst="ellipse">
            <a:avLst/>
          </a:prstGeom>
          <a:solidFill>
            <a:srgbClr val="6FCFB3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973629" y="3803904"/>
            <a:ext cx="14630" cy="219456"/>
          </a:xfrm>
          <a:prstGeom prst="rect">
            <a:avLst/>
          </a:prstGeom>
          <a:solidFill>
            <a:srgbClr val="6FCFB3"/>
          </a:solidFill>
          <a:ln/>
        </p:spPr>
      </p:sp>
      <p:sp>
        <p:nvSpPr>
          <p:cNvPr id="19" name="Shape 17"/>
          <p:cNvSpPr/>
          <p:nvPr/>
        </p:nvSpPr>
        <p:spPr>
          <a:xfrm>
            <a:off x="2112264" y="41148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6F3FC"/>
          </a:solidFill>
          <a:ln w="12700">
            <a:solidFill>
              <a:srgbClr val="6FCF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12264" y="4187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C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57984" y="44256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Size Extraction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157984" y="4773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on product names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46904" y="3621024"/>
            <a:ext cx="201168" cy="201168"/>
          </a:xfrm>
          <a:prstGeom prst="ellipse">
            <a:avLst/>
          </a:prstGeom>
          <a:solidFill>
            <a:srgbClr val="F0899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73752" y="3547872"/>
            <a:ext cx="347472" cy="347472"/>
          </a:xfrm>
          <a:prstGeom prst="ellipse">
            <a:avLst/>
          </a:prstGeom>
          <a:solidFill>
            <a:srgbClr val="F0899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40173" y="3383280"/>
            <a:ext cx="14630" cy="219456"/>
          </a:xfrm>
          <a:prstGeom prst="rect">
            <a:avLst/>
          </a:prstGeom>
          <a:solidFill>
            <a:srgbClr val="F0899F"/>
          </a:solidFill>
          <a:ln/>
        </p:spPr>
      </p:sp>
      <p:sp>
        <p:nvSpPr>
          <p:cNvPr id="26" name="Shape 24"/>
          <p:cNvSpPr/>
          <p:nvPr/>
        </p:nvSpPr>
        <p:spPr>
          <a:xfrm>
            <a:off x="4178808" y="23317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6F3FC"/>
          </a:solidFill>
          <a:ln w="12700">
            <a:solidFill>
              <a:srgbClr val="F0899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78808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8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24528" y="26426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Standardization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24528" y="2990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raw names → 20 clean brands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13448" y="3621024"/>
            <a:ext cx="201168" cy="201168"/>
          </a:xfrm>
          <a:prstGeom prst="ellipse">
            <a:avLst/>
          </a:prstGeom>
          <a:solidFill>
            <a:srgbClr val="7FB8E0"/>
          </a:solidFill>
          <a:ln/>
        </p:spPr>
      </p:sp>
      <p:sp>
        <p:nvSpPr>
          <p:cNvPr id="31" name="Shape 29"/>
          <p:cNvSpPr/>
          <p:nvPr/>
        </p:nvSpPr>
        <p:spPr>
          <a:xfrm>
            <a:off x="6940296" y="3547872"/>
            <a:ext cx="347472" cy="347472"/>
          </a:xfrm>
          <a:prstGeom prst="ellipse">
            <a:avLst/>
          </a:prstGeom>
          <a:solidFill>
            <a:srgbClr val="7FB8E0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106717" y="3803904"/>
            <a:ext cx="14630" cy="219456"/>
          </a:xfrm>
          <a:prstGeom prst="rect">
            <a:avLst/>
          </a:prstGeom>
          <a:solidFill>
            <a:srgbClr val="7FB8E0"/>
          </a:solidFill>
          <a:ln/>
        </p:spPr>
      </p:sp>
      <p:sp>
        <p:nvSpPr>
          <p:cNvPr id="33" name="Shape 31"/>
          <p:cNvSpPr/>
          <p:nvPr/>
        </p:nvSpPr>
        <p:spPr>
          <a:xfrm>
            <a:off x="6245352" y="41148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6F3FC"/>
          </a:solidFill>
          <a:ln w="12700">
            <a:solidFill>
              <a:srgbClr val="7FB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4187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91072" y="44256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Non-Chips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91072" y="4773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18,094 Salsa rows filtered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079992" y="3621024"/>
            <a:ext cx="201168" cy="201168"/>
          </a:xfrm>
          <a:prstGeom prst="ellipse">
            <a:avLst/>
          </a:prstGeom>
          <a:solidFill>
            <a:srgbClr val="B9A6E8"/>
          </a:solidFill>
          <a:ln/>
        </p:spPr>
      </p:sp>
      <p:sp>
        <p:nvSpPr>
          <p:cNvPr id="38" name="Shape 36"/>
          <p:cNvSpPr/>
          <p:nvPr/>
        </p:nvSpPr>
        <p:spPr>
          <a:xfrm>
            <a:off x="9006840" y="3547872"/>
            <a:ext cx="347472" cy="347472"/>
          </a:xfrm>
          <a:prstGeom prst="ellipse">
            <a:avLst/>
          </a:prstGeom>
          <a:solidFill>
            <a:srgbClr val="B9A6E8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173261" y="3383280"/>
            <a:ext cx="14630" cy="219456"/>
          </a:xfrm>
          <a:prstGeom prst="rect">
            <a:avLst/>
          </a:prstGeom>
          <a:solidFill>
            <a:srgbClr val="B9A6E8"/>
          </a:solidFill>
          <a:ln/>
        </p:spPr>
      </p:sp>
      <p:sp>
        <p:nvSpPr>
          <p:cNvPr id="40" name="Shape 38"/>
          <p:cNvSpPr/>
          <p:nvPr/>
        </p:nvSpPr>
        <p:spPr>
          <a:xfrm>
            <a:off x="8311896" y="233172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6F3FC"/>
          </a:solidFill>
          <a:ln w="12700">
            <a:solidFill>
              <a:srgbClr val="B9A6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11896" y="2404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57616" y="264261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357616" y="29900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bulk-purchase txns removed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1146536" y="3621024"/>
            <a:ext cx="201168" cy="201168"/>
          </a:xfrm>
          <a:prstGeom prst="ellipse">
            <a:avLst/>
          </a:prstGeom>
          <a:solidFill>
            <a:srgbClr val="E3A857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73384" y="3547872"/>
            <a:ext cx="347472" cy="347472"/>
          </a:xfrm>
          <a:prstGeom prst="ellipse">
            <a:avLst/>
          </a:prstGeom>
          <a:solidFill>
            <a:srgbClr val="E3A857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239805" y="3803904"/>
            <a:ext cx="14630" cy="219456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47" name="Shape 45"/>
          <p:cNvSpPr/>
          <p:nvPr/>
        </p:nvSpPr>
        <p:spPr>
          <a:xfrm>
            <a:off x="10378440" y="4114800"/>
            <a:ext cx="1737360" cy="1051560"/>
          </a:xfrm>
          <a:prstGeom prst="roundRect">
            <a:avLst>
              <a:gd name="adj" fmla="val 6957"/>
            </a:avLst>
          </a:prstGeom>
          <a:solidFill>
            <a:srgbClr val="F6F3FC"/>
          </a:solidFill>
          <a:ln w="12700">
            <a:solidFill>
              <a:srgbClr val="E3A8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78440" y="4187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424160" y="44256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Datasets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424160" y="4773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246,740 rows, zero data loss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7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pipeline transformed 264,836 raw records into a clean, analysis-ready dataset of 246,740 transactions across 72,637 customers.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32918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BRANDS DRIVE THE MOST REVENUE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Brand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50292"/>
          </a:xfrm>
          <a:prstGeom prst="rect">
            <a:avLst/>
          </a:prstGeom>
          <a:solidFill>
            <a:srgbClr val="8B7FD1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600200"/>
            <a:ext cx="3886200" cy="4663440"/>
          </a:xfrm>
          <a:prstGeom prst="roundRect">
            <a:avLst>
              <a:gd name="adj" fmla="val 2353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27000" dist="25400" dir="5400000">
              <a:srgbClr val="CBBFE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92440" y="1965960"/>
            <a:ext cx="54864" cy="914400"/>
          </a:xfrm>
          <a:prstGeom prst="rect">
            <a:avLst/>
          </a:prstGeom>
          <a:solidFill>
            <a:srgbClr val="8B7FD1"/>
          </a:solidFill>
          <a:ln/>
        </p:spPr>
      </p:sp>
      <p:sp>
        <p:nvSpPr>
          <p:cNvPr id="11" name="Text 8"/>
          <p:cNvSpPr/>
          <p:nvPr/>
        </p:nvSpPr>
        <p:spPr>
          <a:xfrm>
            <a:off x="8275320" y="1874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$390,240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27532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 — Total Sales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3063240"/>
            <a:ext cx="3246120" cy="16459"/>
          </a:xfrm>
          <a:prstGeom prst="rect">
            <a:avLst/>
          </a:prstGeom>
          <a:solidFill>
            <a:srgbClr val="E7E1F5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324612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 leads by a wide margin — nearly 73% more than Doritos, the second-highest brand.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Kettle, Doritos, and Smiths together account for over 55% of total chip category revenue, making them the clear priority for shelf space and promotions.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32918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C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VOLUME, NOT JUST REVENUE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 by Brand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50292"/>
          </a:xfrm>
          <a:prstGeom prst="rect">
            <a:avLst/>
          </a:prstGeom>
          <a:solidFill>
            <a:srgbClr val="6FCFB3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600200"/>
            <a:ext cx="3886200" cy="4663440"/>
          </a:xfrm>
          <a:prstGeom prst="roundRect">
            <a:avLst>
              <a:gd name="adj" fmla="val 2353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27000" dist="25400" dir="5400000">
              <a:srgbClr val="CBBFE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92440" y="1965960"/>
            <a:ext cx="54864" cy="914400"/>
          </a:xfrm>
          <a:prstGeom prst="rect">
            <a:avLst/>
          </a:prstGeom>
          <a:solidFill>
            <a:srgbClr val="6FCFB3"/>
          </a:solidFill>
          <a:ln/>
        </p:spPr>
      </p:sp>
      <p:sp>
        <p:nvSpPr>
          <p:cNvPr id="11" name="Text 8"/>
          <p:cNvSpPr/>
          <p:nvPr/>
        </p:nvSpPr>
        <p:spPr>
          <a:xfrm>
            <a:off x="8275320" y="1874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C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79,051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27532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 — Units Sold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3063240"/>
            <a:ext cx="3246120" cy="16459"/>
          </a:xfrm>
          <a:prstGeom prst="rect">
            <a:avLst/>
          </a:prstGeom>
          <a:solidFill>
            <a:srgbClr val="E7E1F5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324612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 sold the highest volume of any brand, confirming its lead is driven by genuine demand, not just higher pricing.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sales-quantity pattern closely tracks total sales ranking, so stock planning should follow the same brand priority order.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32918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8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SPEND THE MOST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Customer Lifestage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50292"/>
          </a:xfrm>
          <a:prstGeom prst="rect">
            <a:avLst/>
          </a:prstGeom>
          <a:solidFill>
            <a:srgbClr val="F0899F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600200"/>
            <a:ext cx="3886200" cy="4663440"/>
          </a:xfrm>
          <a:prstGeom prst="roundRect">
            <a:avLst>
              <a:gd name="adj" fmla="val 2353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27000" dist="25400" dir="5400000">
              <a:srgbClr val="CBBFE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92440" y="1965960"/>
            <a:ext cx="54864" cy="914400"/>
          </a:xfrm>
          <a:prstGeom prst="rect">
            <a:avLst/>
          </a:prstGeom>
          <a:solidFill>
            <a:srgbClr val="F0899F"/>
          </a:solidFill>
          <a:ln/>
        </p:spPr>
      </p:sp>
      <p:sp>
        <p:nvSpPr>
          <p:cNvPr id="11" name="Text 8"/>
          <p:cNvSpPr/>
          <p:nvPr/>
        </p:nvSpPr>
        <p:spPr>
          <a:xfrm>
            <a:off x="8275320" y="1874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8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$376,020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27532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Singles/Couples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3063240"/>
            <a:ext cx="3246120" cy="16459"/>
          </a:xfrm>
          <a:prstGeom prst="rect">
            <a:avLst/>
          </a:prstGeom>
          <a:solidFill>
            <a:srgbClr val="E7E1F5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324612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segment generated the highest revenue of any lifestage, followed closely by Retirees and Older Families.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Families contribute the least ($47,348), suggesting an opportunity to build engagement with this segment through targeted offers.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32918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MAINSTREAM VS PREMIUM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Premium Customer Type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50292"/>
          </a:xfrm>
          <a:prstGeom prst="rect">
            <a:avLst/>
          </a:prstGeom>
          <a:solidFill>
            <a:srgbClr val="7FB8E0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640080" y="173736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1965960"/>
            <a:ext cx="201168" cy="201168"/>
          </a:xfrm>
          <a:prstGeom prst="ellipse">
            <a:avLst/>
          </a:prstGeom>
          <a:solidFill>
            <a:srgbClr val="8B7FD1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4652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$700,865  •  38.8%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2743200"/>
            <a:ext cx="201168" cy="201168"/>
          </a:xfrm>
          <a:prstGeom prst="ellipse">
            <a:avLst/>
          </a:prstGeom>
          <a:solidFill>
            <a:srgbClr val="6FCFB3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4652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$631,407  •  35.0%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3520440"/>
            <a:ext cx="201168" cy="201168"/>
          </a:xfrm>
          <a:prstGeom prst="ellipse">
            <a:avLst/>
          </a:prstGeom>
          <a:solidFill>
            <a:srgbClr val="F0899F"/>
          </a:solidFill>
          <a:ln/>
        </p:spPr>
      </p:sp>
      <p:sp>
        <p:nvSpPr>
          <p:cNvPr id="16" name="Text 13"/>
          <p:cNvSpPr/>
          <p:nvPr/>
        </p:nvSpPr>
        <p:spPr>
          <a:xfrm>
            <a:off x="6446520" y="3474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4652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$472,905  •  26.2%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26480" y="43891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6F3FC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457200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customers lead revenue, narrowly ahead of Budget. Premium customers contribute the least (26.2%) despite typically higher spending power — an opportunity for premium-targeted bundles or promotions.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32918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REVENUE REALLY COMES FROM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Lifestage &amp; Premium Segment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50292"/>
          </a:xfrm>
          <a:prstGeom prst="rect">
            <a:avLst/>
          </a:prstGeom>
          <a:solidFill>
            <a:srgbClr val="8B7FD1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0" y="1536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Midage Singles/Couples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920240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D6D0EB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920240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$33,346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920240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A399C9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920240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$84,734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C1B9DD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920240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$54,444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4048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Families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404872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E3DDF4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2404872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$20,607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404872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E8E2F7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404872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$15,980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404872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EDE8FA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2404872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$10,761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288950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Families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889504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5B4B9A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2889504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$156,864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889504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978CC2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2889504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$96,414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889504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ADA3D0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2889504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$75,243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37413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Singles/Couples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3374136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786AAD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3374136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$127,834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374136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7B6EAF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374136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$124,649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3374136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7C6FB0"/>
          </a:solidFill>
          <a:ln/>
        </p:spPr>
      </p:sp>
      <p:sp>
        <p:nvSpPr>
          <p:cNvPr id="38" name="Text 36"/>
          <p:cNvSpPr/>
          <p:nvPr/>
        </p:nvSpPr>
        <p:spPr>
          <a:xfrm>
            <a:off x="6035040" y="3374136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$123,538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385876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3858768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8E82BB"/>
          </a:solidFill>
          <a:ln/>
        </p:spPr>
      </p:sp>
      <p:sp>
        <p:nvSpPr>
          <p:cNvPr id="41" name="Text 39"/>
          <p:cNvSpPr/>
          <p:nvPr/>
        </p:nvSpPr>
        <p:spPr>
          <a:xfrm>
            <a:off x="3291840" y="3858768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$105,916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858768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6758A2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858768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$145,169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3858768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9D91C5"/>
          </a:solidFill>
          <a:ln/>
        </p:spPr>
      </p:sp>
      <p:sp>
        <p:nvSpPr>
          <p:cNvPr id="45" name="Text 43"/>
          <p:cNvSpPr/>
          <p:nvPr/>
        </p:nvSpPr>
        <p:spPr>
          <a:xfrm>
            <a:off x="6035040" y="3858768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$91,297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43434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Families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91840" y="4343400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7668AC"/>
          </a:solidFill>
          <a:ln/>
        </p:spPr>
      </p:sp>
      <p:sp>
        <p:nvSpPr>
          <p:cNvPr id="48" name="Text 46"/>
          <p:cNvSpPr/>
          <p:nvPr/>
        </p:nvSpPr>
        <p:spPr>
          <a:xfrm>
            <a:off x="3291840" y="4343400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$129,718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4343400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A197C8"/>
          </a:solidFill>
          <a:ln/>
        </p:spPr>
      </p:sp>
      <p:sp>
        <p:nvSpPr>
          <p:cNvPr id="50" name="Text 48"/>
          <p:cNvSpPr/>
          <p:nvPr/>
        </p:nvSpPr>
        <p:spPr>
          <a:xfrm>
            <a:off x="4663440" y="4343400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$86,338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35040" y="4343400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A99FCD"/>
          </a:solidFill>
          <a:ln/>
        </p:spPr>
      </p:sp>
      <p:sp>
        <p:nvSpPr>
          <p:cNvPr id="52" name="Text 50"/>
          <p:cNvSpPr/>
          <p:nvPr/>
        </p:nvSpPr>
        <p:spPr>
          <a:xfrm>
            <a:off x="6035040" y="4343400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$78,572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48280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Singles/Couples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91840" y="4828032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BFB6DC"/>
          </a:solidFill>
          <a:ln/>
        </p:spPr>
      </p:sp>
      <p:sp>
        <p:nvSpPr>
          <p:cNvPr id="55" name="Text 53"/>
          <p:cNvSpPr/>
          <p:nvPr/>
        </p:nvSpPr>
        <p:spPr>
          <a:xfrm>
            <a:off x="3291840" y="4828032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$57,122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4828032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6455A0"/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4828032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$147,582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35040" y="4828032"/>
            <a:ext cx="1298448" cy="429768"/>
          </a:xfrm>
          <a:prstGeom prst="roundRect">
            <a:avLst>
              <a:gd name="adj" fmla="val 10638"/>
            </a:avLst>
          </a:prstGeom>
          <a:solidFill>
            <a:srgbClr val="D1CAE7"/>
          </a:solidFill>
          <a:ln/>
        </p:spPr>
      </p:sp>
      <p:sp>
        <p:nvSpPr>
          <p:cNvPr id="59" name="Text 57"/>
          <p:cNvSpPr/>
          <p:nvPr/>
        </p:nvSpPr>
        <p:spPr>
          <a:xfrm>
            <a:off x="6035040" y="4828032"/>
            <a:ext cx="12984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$39,052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29600" y="1920240"/>
            <a:ext cx="3429000" cy="3429000"/>
          </a:xfrm>
          <a:prstGeom prst="roundRect">
            <a:avLst>
              <a:gd name="adj" fmla="val 2667"/>
            </a:avLst>
          </a:prstGeom>
          <a:solidFill>
            <a:srgbClr val="F6F3FC"/>
          </a:solidFill>
          <a:ln/>
        </p:spPr>
      </p:sp>
      <p:sp>
        <p:nvSpPr>
          <p:cNvPr id="61" name="Text 59"/>
          <p:cNvSpPr/>
          <p:nvPr/>
        </p:nvSpPr>
        <p:spPr>
          <a:xfrm>
            <a:off x="845820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Standout Segments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8458200" y="2514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Families (Budget): $156,864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Singles/Couples (Mainstream): $147,582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Singles/Couples (Premium): $123,538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the top performer within their own premium tier — spending depends on lifestage AND premium tier together.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32918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C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SIZES CUSTOMERS ACTUALLY BUY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Size Distribution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50292"/>
          </a:xfrm>
          <a:prstGeom prst="rect">
            <a:avLst/>
          </a:prstGeom>
          <a:solidFill>
            <a:srgbClr val="6FCFB3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600200"/>
            <a:ext cx="3886200" cy="4663440"/>
          </a:xfrm>
          <a:prstGeom prst="roundRect">
            <a:avLst>
              <a:gd name="adj" fmla="val 2353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27000" dist="25400" dir="5400000">
              <a:srgbClr val="CBBFE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92440" y="1965960"/>
            <a:ext cx="54864" cy="914400"/>
          </a:xfrm>
          <a:prstGeom prst="rect">
            <a:avLst/>
          </a:prstGeom>
          <a:solidFill>
            <a:srgbClr val="6FCFB3"/>
          </a:solidFill>
          <a:ln/>
        </p:spPr>
      </p:sp>
      <p:sp>
        <p:nvSpPr>
          <p:cNvPr id="11" name="Text 8"/>
          <p:cNvSpPr/>
          <p:nvPr/>
        </p:nvSpPr>
        <p:spPr>
          <a:xfrm>
            <a:off x="8275320" y="1874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FC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66,390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27532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175g — Transactions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3063240"/>
            <a:ext cx="3246120" cy="16459"/>
          </a:xfrm>
          <a:prstGeom prst="rect">
            <a:avLst/>
          </a:prstGeom>
          <a:solidFill>
            <a:srgbClr val="E7E1F5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324612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175g pack is the clear favorite — more than the next two sizes (150g, 134g) combined.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top 3 sizes should be prioritized for shelf space and inventory, while very small or oversized packs may work better as promotional items.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32918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8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BEHAVIOUR BY LIFESTAGE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Packs Purchased per Transaction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50292"/>
          </a:xfrm>
          <a:prstGeom prst="rect">
            <a:avLst/>
          </a:prstGeom>
          <a:solidFill>
            <a:srgbClr val="F0899F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73736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772400" y="1600200"/>
            <a:ext cx="3886200" cy="4663440"/>
          </a:xfrm>
          <a:prstGeom prst="roundRect">
            <a:avLst>
              <a:gd name="adj" fmla="val 2353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27000" dist="25400" dir="5400000">
              <a:srgbClr val="CBBFEA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92440" y="1965960"/>
            <a:ext cx="54864" cy="914400"/>
          </a:xfrm>
          <a:prstGeom prst="rect">
            <a:avLst/>
          </a:prstGeom>
          <a:solidFill>
            <a:srgbClr val="F0899F"/>
          </a:solidFill>
          <a:ln/>
        </p:spPr>
      </p:sp>
      <p:sp>
        <p:nvSpPr>
          <p:cNvPr id="11" name="Text 8"/>
          <p:cNvSpPr/>
          <p:nvPr/>
        </p:nvSpPr>
        <p:spPr>
          <a:xfrm>
            <a:off x="8275320" y="1874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8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1.95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827532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Families — Avg Packs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3063240"/>
            <a:ext cx="3246120" cy="16459"/>
          </a:xfrm>
          <a:prstGeom prst="rect">
            <a:avLst/>
          </a:prstGeom>
          <a:solidFill>
            <a:srgbClr val="E7E1F5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324612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Families purchase the most packs per transaction on average, closely followed by Young Families at 1.94.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is small, but family-oriented groups consistently buy marginally more, supporting multi-pack and family-sized promotions.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32918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50292"/>
          </a:xfrm>
          <a:prstGeom prst="rect">
            <a:avLst/>
          </a:prstGeom>
          <a:solidFill>
            <a:srgbClr val="8B7FD1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201168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6F3FC"/>
          </a:solidFill>
          <a:ln/>
          <a:effectLst>
            <a:outerShdw sx="100000" sy="100000" kx="0" ky="0" algn="bl" rotWithShape="0" blurRad="76200" dist="25400" dir="5400000">
              <a:srgbClr val="CBBFE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011680"/>
            <a:ext cx="64008" cy="1298448"/>
          </a:xfrm>
          <a:prstGeom prst="rect">
            <a:avLst/>
          </a:prstGeom>
          <a:solidFill>
            <a:srgbClr val="8B7FD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7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139696"/>
            <a:ext cx="4434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Kettle, Doritos, Smiths &amp; Pringles are the top-performing brands by both sales and volume.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6F3FC"/>
          </a:solidFill>
          <a:ln/>
          <a:effectLst>
            <a:outerShdw sx="100000" sy="100000" kx="0" ky="0" algn="bl" rotWithShape="0" blurRad="76200" dist="25400" dir="5400000">
              <a:srgbClr val="CBBFE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2011680"/>
            <a:ext cx="64008" cy="1298448"/>
          </a:xfrm>
          <a:prstGeom prst="rect">
            <a:avLst/>
          </a:prstGeom>
          <a:solidFill>
            <a:srgbClr val="6FCFB3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FC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2139696"/>
            <a:ext cx="4434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Singles/Couples, Retirees &amp; Older Families generate the highest overall revenue.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493008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6F3FC"/>
          </a:solidFill>
          <a:ln/>
          <a:effectLst>
            <a:outerShdw sx="100000" sy="100000" kx="0" ky="0" algn="bl" rotWithShape="0" blurRad="76200" dist="25400" dir="5400000">
              <a:srgbClr val="CBBFE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493008"/>
            <a:ext cx="64008" cy="1298448"/>
          </a:xfrm>
          <a:prstGeom prst="rect">
            <a:avLst/>
          </a:prstGeom>
          <a:solidFill>
            <a:srgbClr val="F0899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8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3621024"/>
            <a:ext cx="4434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customers contribute the largest share of total sales (38.8%).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493008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6F3FC"/>
          </a:solidFill>
          <a:ln/>
          <a:effectLst>
            <a:outerShdw sx="100000" sy="100000" kx="0" ky="0" algn="bl" rotWithShape="0" blurRad="76200" dist="25400" dir="5400000">
              <a:srgbClr val="CBBFEA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493008"/>
            <a:ext cx="64008" cy="1298448"/>
          </a:xfrm>
          <a:prstGeom prst="rect">
            <a:avLst/>
          </a:prstGeom>
          <a:solidFill>
            <a:srgbClr val="7FB8E0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3621024"/>
            <a:ext cx="4434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175g is the most popular pack size, followed by 150g and 134g.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497433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6F3FC"/>
          </a:solidFill>
          <a:ln/>
          <a:effectLst>
            <a:outerShdw sx="100000" sy="100000" kx="0" ky="0" algn="bl" rotWithShape="0" blurRad="76200" dist="25400" dir="5400000">
              <a:srgbClr val="CBBFEA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974336"/>
            <a:ext cx="64008" cy="1298448"/>
          </a:xfrm>
          <a:prstGeom prst="rect">
            <a:avLst/>
          </a:prstGeom>
          <a:solidFill>
            <a:srgbClr val="B9A6E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A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71600" y="5102352"/>
            <a:ext cx="4434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Family-oriented segments purchase slightly larger quantities per transaction.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4974336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6F3FC"/>
          </a:solidFill>
          <a:ln/>
          <a:effectLst>
            <a:outerShdw sx="100000" sy="100000" kx="0" ky="0" algn="bl" rotWithShape="0" blurRad="76200" dist="25400" dir="5400000">
              <a:srgbClr val="CBBFEA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4974336"/>
            <a:ext cx="64008" cy="1298448"/>
          </a:xfrm>
          <a:prstGeom prst="rect">
            <a:avLst/>
          </a:prstGeom>
          <a:solidFill>
            <a:srgbClr val="E3A857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086600" y="5102352"/>
            <a:ext cx="4434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patterns depend on both lifestage AND premium tier together.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" cy="329184"/>
          </a:xfrm>
          <a:prstGeom prst="ellipse">
            <a:avLst/>
          </a:prstGeom>
          <a:solidFill>
            <a:srgbClr val="5B4B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9264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C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Tools Used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" cy="50292"/>
          </a:xfrm>
          <a:prstGeom prst="rect">
            <a:avLst/>
          </a:prstGeom>
          <a:solidFill>
            <a:srgbClr val="6FCFB3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6596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F6F3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4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inventory &amp; shelf space for Kettle, Doritos, Smiths &amp; Pringles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more of the 175g, 150g &amp; 134g pack sizes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Older Singles/Couples, Retirees &amp; Older Families with loyalty campaigns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premium-tier bundles to grow the underperforming Premium segment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multi-pack promotions for family-oriented customer segments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96596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9050">
            <a:solidFill>
              <a:srgbClr val="E7E1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194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C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 Used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(Feature Extraction)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&amp; Matplotlib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58521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as part of the Quantium Virtual Internship program (Retail Analytics track).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Analytics - Quantium Virtual Internship</dc:title>
  <dc:subject>PptxGenJS Presentation</dc:subject>
  <dc:creator>Ishika Verma</dc:creator>
  <cp:lastModifiedBy>Ishika Verma</cp:lastModifiedBy>
  <cp:revision>1</cp:revision>
  <dcterms:created xsi:type="dcterms:W3CDTF">2026-07-13T03:22:20Z</dcterms:created>
  <dcterms:modified xsi:type="dcterms:W3CDTF">2026-07-13T03:22:20Z</dcterms:modified>
</cp:coreProperties>
</file>